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Economica"/>
      <p:regular r:id="rId28"/>
      <p:bold r:id="rId29"/>
      <p:italic r:id="rId30"/>
      <p:boldItalic r:id="rId31"/>
    </p:embeddedFont>
    <p:embeddedFont>
      <p:font typeface="Open Sans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Economica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Economica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Economica-boldItalic.fntdata"/><Relationship Id="rId30" Type="http://schemas.openxmlformats.org/officeDocument/2006/relationships/font" Target="fonts/Economica-italic.fntdata"/><Relationship Id="rId11" Type="http://schemas.openxmlformats.org/officeDocument/2006/relationships/slide" Target="slides/slide6.xml"/><Relationship Id="rId33" Type="http://schemas.openxmlformats.org/officeDocument/2006/relationships/font" Target="fonts/OpenSans-bold.fntdata"/><Relationship Id="rId10" Type="http://schemas.openxmlformats.org/officeDocument/2006/relationships/slide" Target="slides/slide5.xml"/><Relationship Id="rId32" Type="http://schemas.openxmlformats.org/officeDocument/2006/relationships/font" Target="fonts/OpenSans-regular.fntdata"/><Relationship Id="rId13" Type="http://schemas.openxmlformats.org/officeDocument/2006/relationships/slide" Target="slides/slide8.xml"/><Relationship Id="rId35" Type="http://schemas.openxmlformats.org/officeDocument/2006/relationships/font" Target="fonts/OpenSans-boldItalic.fntdata"/><Relationship Id="rId12" Type="http://schemas.openxmlformats.org/officeDocument/2006/relationships/slide" Target="slides/slide7.xml"/><Relationship Id="rId34" Type="http://schemas.openxmlformats.org/officeDocument/2006/relationships/font" Target="fonts/OpenSans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/>
              <a:t>大家好，我們是第6組，我們</a:t>
            </a:r>
            <a:r>
              <a:rPr lang="zh-TW"/>
              <a:t>這次</a:t>
            </a:r>
            <a:r>
              <a:rPr lang="zh-TW"/>
              <a:t>的project叫element war</a:t>
            </a:r>
            <a:r>
              <a:rPr lang="zh-TW"/>
              <a:t>，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/>
              <a:t>我們希望能結合前面project做的偵測人體18個點的</a:t>
            </a:r>
            <a:r>
              <a:rPr lang="zh-TW"/>
              <a:t>位置資訊及運用diffusion model來實現一個元素的對戰遊戲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/>
              <a:t>以下是我們的大綱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/>
              <a:t>首先是動機</a:t>
            </a:r>
            <a:r>
              <a:rPr lang="zh-TW"/>
              <a:t>的部分</a:t>
            </a:r>
            <a:r>
              <a:rPr lang="zh-TW"/>
              <a:t>，</a:t>
            </a:r>
            <a:r>
              <a:rPr lang="zh-TW"/>
              <a:t>我們希望可以藉由姿勢偵測模型和diffusion model來實作一個互動式的系統，而且現在的人常常待在家，很少有跟人互動的機會。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/>
              <a:t>所以我們設計了一款遊戲讓大家可以跟親朋好友一起玩！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/>
              <a:t>接下來是我們本次專案的架構，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/>
              <a:t>上面是我們遊戲的流程架構圖，在遊戲一開始兩位玩家須先碰拳啟動遊戲，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/>
              <a:t>遊戲開始後，兩位玩家就可以開始比出指定動作，召喚出相對應的元素，並開始蓄力攻擊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/>
              <a:t>完成蓄力後，就可以比出發射的姿勢來發動攻擊，攻擊後就會扣除對方的生命值，直到有一方生命值歸零為止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e70a22a4cf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g2e70a22a4c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/>
              <a:t>接下來是本次專案會用到的模型，姿勢辨識模型與前幾次相同，使用nvidia提供的trt pose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/>
              <a:t>diffusion model則是使用github上的tiny diffusion model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70a22a4cf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70a22a4cf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tiny diffusion</a:t>
            </a:r>
            <a:r>
              <a:rPr lang="zh-TW"/>
              <a:t>是一個最小的機率擴散模型，</a:t>
            </a:r>
            <a:r>
              <a:rPr lang="zh-TW">
                <a:solidFill>
                  <a:schemeClr val="dk1"/>
                </a:solidFill>
              </a:rPr>
              <a:t>它基於DDPM的概念，希望能簡化和展示這些模型的基本原理和應用。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tiny Diffusion 的特點在於其簡單明了的實現，讓我們能快速上手；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它會利用PyTorch的高效運算和靈活性，實現了擴散模型的核心步驟和訓練過程。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e70a22a4cf_3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e70a22a4cf_3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接下來要來稍微介紹一下diffusion model，老師上課中有提到VAE，其實diffusion model和VAE有點像，我們可以把diffusion model想像成一個encoder是固定的VAE，diffusion model的forward process就像是VAE中的encoder，它會將data逐步轉換成一個高斯的噪聲分佈。這個過程是固定的，並且不需要學習。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diffusion model的reverse process則相當於VAE中的Decoder，需要通過學習來從噪聲中逐步還原出原始數據。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e70a22a4cf_3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e70a22a4cf_3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DDPM是近年最流行的影像生成模型。它主要可以分成兩個部分來介紹，分別是forward process以及reverse process。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forward process的概念就是像上面那樣，我們會給模型一張乾淨的圖片，透過不斷添加noise到這張圖片上，直到這整張圖片都是noise，且呈現高斯分佈。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相反地，reverse process的概念就是給定一張呈現高斯分佈的noise圖片，透過不斷地去雜訊，逐步讓這張圖片越來越清晰，直到生成一張乾淨的圖片。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而ddpm就是希望透過forward process和reverse process來學習真實圖片的distribution。舉例來說：我們想生成貓的圖片，那就需要學習貓的圖片的distribution，如果學到了，那我們之後只需要做reverse process，給定一張高斯分佈的雜訊圖片，就能生成出貓的圖片。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e70a22a4cf_3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e70a22a4cf_3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以下我們</a:t>
            </a:r>
            <a:r>
              <a:rPr lang="zh-TW"/>
              <a:t>將forward process</a:t>
            </a:r>
            <a:r>
              <a:rPr lang="zh-TW"/>
              <a:t>可視化，可以看到恐龍會隨著steps的增加，有越來越多的雜訊會被加入，直到全部都變成高斯分布的雜訊，也就是最右下角的step為45時的結果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e70a22a4cf_3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e70a22a4cf_3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這邊則是</a:t>
            </a:r>
            <a:r>
              <a:rPr lang="zh-TW">
                <a:solidFill>
                  <a:schemeClr val="dk1"/>
                </a:solidFill>
              </a:rPr>
              <a:t>我們將reverse process可視化，可以看到從最一開始的雜訊，在經過50個steps後，它會被denoise回恐龍的圖案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e70a22a4cf_3_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g2e70a22a4cf_3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接下來是我們的遊戲設定的部分，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/>
              <a:t>我們想利用5個元素相剋的規則作為我們對戰的規則，像是水剋火、火剋風、風剋雷、雷剋土、土剋水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/>
              <a:t>我們會使用前面提到的tiny diffusion model，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/>
              <a:t>透過reverse process，一步一步將雜訊denoise出元素的圖案，像上面的圖就是我們denoise完的結果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e70a22a4cf_3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e70a22a4cf_3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接下來要解釋的是被攻擊時會受到的傷害，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當比出某一個元素的姿勢時，即會開始蓄力，隨著蓄力的時間越長，會加入diffusion的點也會越多，蓄力的力量也會越大，直到做出發射的動作將攻擊丟給對方為止。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當我們使出風絕招，而對方使出土絕招時，因為風和土沒有相剋的關係，所以攻擊力只會直接相減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所以左邊使出攻擊力8000的絕招，右邊使出攻擊力7000的絕招，相抵之後會變右邊受損1000點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e70a22a4cf_3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e70a22a4cf_3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接下來是有相剋的部分，像上面的例子，因為火剋風，所以火的攻擊力會乘以1.2倍。所以原先風的攻擊力是大約火的，但經過加權後，反而會變右邊的攻擊力更強，這就是用對絕招的力量！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/>
              <a:t>以下是我們如何召喚出這五個招式的動作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e70a22a4c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e70a22a4c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所以遊戲就會如下圖進行，當我們比出一個雷的動作時，在模型偵測到後，tiny diffusion就會開始將原本是雜訊的點逐漸變成雷的形狀，如果我們一直維持同樣的姿勢，圖案就會越來越清晰，同時也是在為絕招蓄力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e70a22a4cf_3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2e70a22a4cf_3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蓄力完成後，我們就可以發射攻擊了！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/>
              <a:t>接下來就是我們的demo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/>
              <a:t>以上是我們的工作分配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da71c379fb_1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2da71c379fb_1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這邊是我們的參考資料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/>
              <a:t>謝謝大家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2" name="Google Shape;22;p4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7.png"/><Relationship Id="rId7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11" Type="http://schemas.openxmlformats.org/officeDocument/2006/relationships/image" Target="../media/image14.png"/><Relationship Id="rId10" Type="http://schemas.openxmlformats.org/officeDocument/2006/relationships/image" Target="../media/image16.png"/><Relationship Id="rId12" Type="http://schemas.openxmlformats.org/officeDocument/2006/relationships/image" Target="../media/image18.png"/><Relationship Id="rId9" Type="http://schemas.openxmlformats.org/officeDocument/2006/relationships/image" Target="../media/image17.png"/><Relationship Id="rId5" Type="http://schemas.openxmlformats.org/officeDocument/2006/relationships/image" Target="../media/image9.png"/><Relationship Id="rId6" Type="http://schemas.openxmlformats.org/officeDocument/2006/relationships/image" Target="../media/image7.png"/><Relationship Id="rId7" Type="http://schemas.openxmlformats.org/officeDocument/2006/relationships/image" Target="../media/image4.png"/><Relationship Id="rId8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11" Type="http://schemas.openxmlformats.org/officeDocument/2006/relationships/image" Target="../media/image24.jpg"/><Relationship Id="rId10" Type="http://schemas.openxmlformats.org/officeDocument/2006/relationships/image" Target="../media/image22.jpg"/><Relationship Id="rId12" Type="http://schemas.openxmlformats.org/officeDocument/2006/relationships/image" Target="../media/image21.jpg"/><Relationship Id="rId9" Type="http://schemas.openxmlformats.org/officeDocument/2006/relationships/image" Target="../media/image19.jpg"/><Relationship Id="rId5" Type="http://schemas.openxmlformats.org/officeDocument/2006/relationships/image" Target="../media/image9.png"/><Relationship Id="rId6" Type="http://schemas.openxmlformats.org/officeDocument/2006/relationships/image" Target="../media/image7.png"/><Relationship Id="rId7" Type="http://schemas.openxmlformats.org/officeDocument/2006/relationships/image" Target="../media/image4.png"/><Relationship Id="rId8" Type="http://schemas.openxmlformats.org/officeDocument/2006/relationships/image" Target="../media/image20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jpg"/><Relationship Id="rId4" Type="http://schemas.openxmlformats.org/officeDocument/2006/relationships/image" Target="../media/image25.gif"/><Relationship Id="rId5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jpg"/><Relationship Id="rId4" Type="http://schemas.openxmlformats.org/officeDocument/2006/relationships/image" Target="../media/image13.gif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github.com/NVIDIA-AI-IOT/trt_pose" TargetMode="External"/><Relationship Id="rId4" Type="http://schemas.openxmlformats.org/officeDocument/2006/relationships/hyperlink" Target="https://github.com/NVIDIA-AI-IOT/torch2trt" TargetMode="External"/><Relationship Id="rId5" Type="http://schemas.openxmlformats.org/officeDocument/2006/relationships/hyperlink" Target="https://github.com/tanelp/tiny-diffusion" TargetMode="External"/><Relationship Id="rId6" Type="http://schemas.openxmlformats.org/officeDocument/2006/relationships/hyperlink" Target="https://medium.com/ai-blog-tw/%E9%82%8A%E5%AF%A6%E4%BD%9C%E9%82%8A%E5%AD%B8%E7%BF%92diffusion-model-%E5%BE%9Eddpm%E7%9A%84%E7%B0%A1%E5%8C%96%E6%A6%82%E5%BF%B5%E7%90%86%E8%A7%A3-4c565a1c09c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1930478" y="1381424"/>
            <a:ext cx="5283000" cy="153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zh-TW" sz="3600">
                <a:latin typeface="Arial"/>
                <a:ea typeface="Arial"/>
                <a:cs typeface="Arial"/>
                <a:sym typeface="Arial"/>
              </a:rPr>
              <a:t>element war</a:t>
            </a:r>
            <a:endParaRPr b="1" sz="3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044700" y="3116573"/>
            <a:ext cx="3054600" cy="10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3194"/>
              <a:buNone/>
            </a:pPr>
            <a:r>
              <a:rPr lang="zh-TW" sz="2200">
                <a:latin typeface="Arial"/>
                <a:ea typeface="Arial"/>
                <a:cs typeface="Arial"/>
                <a:sym typeface="Arial"/>
              </a:rPr>
              <a:t>team 6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3194"/>
              <a:buNone/>
            </a:pPr>
            <a:r>
              <a:t/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6126"/>
              <a:buNone/>
            </a:pPr>
            <a:r>
              <a:rPr lang="zh-TW" sz="1800">
                <a:latin typeface="Arial"/>
                <a:ea typeface="Arial"/>
                <a:cs typeface="Arial"/>
                <a:sym typeface="Arial"/>
              </a:rPr>
              <a:t>林柏宏 施又琪 廖敏妤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zh-TW">
                <a:latin typeface="Arial"/>
                <a:ea typeface="Arial"/>
                <a:cs typeface="Arial"/>
                <a:sym typeface="Arial"/>
              </a:rPr>
              <a:t>outline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1149025"/>
            <a:ext cx="8520600" cy="35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>
                <a:latin typeface="Arial"/>
                <a:ea typeface="Arial"/>
                <a:cs typeface="Arial"/>
                <a:sym typeface="Arial"/>
              </a:rPr>
              <a:t>motivation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>
                <a:latin typeface="Arial"/>
                <a:ea typeface="Arial"/>
                <a:cs typeface="Arial"/>
                <a:sym typeface="Arial"/>
              </a:rPr>
              <a:t>architecture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zh-TW">
                <a:latin typeface="Arial"/>
                <a:ea typeface="Arial"/>
                <a:cs typeface="Arial"/>
                <a:sym typeface="Arial"/>
              </a:rPr>
              <a:t>models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lang="zh-TW" sz="1600">
                <a:latin typeface="Arial"/>
                <a:ea typeface="Arial"/>
                <a:cs typeface="Arial"/>
                <a:sym typeface="Arial"/>
              </a:rPr>
              <a:t>diffusion model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>
                <a:latin typeface="Arial"/>
                <a:ea typeface="Arial"/>
                <a:cs typeface="Arial"/>
                <a:sym typeface="Arial"/>
              </a:rPr>
              <a:t>game setting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zh-TW">
                <a:latin typeface="Arial"/>
                <a:ea typeface="Arial"/>
                <a:cs typeface="Arial"/>
                <a:sym typeface="Arial"/>
              </a:rPr>
              <a:t>result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>
                <a:latin typeface="Arial"/>
                <a:ea typeface="Arial"/>
                <a:cs typeface="Arial"/>
                <a:sym typeface="Arial"/>
              </a:rPr>
              <a:t>demo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>
                <a:latin typeface="Arial"/>
                <a:ea typeface="Arial"/>
                <a:cs typeface="Arial"/>
                <a:sym typeface="Arial"/>
              </a:rPr>
              <a:t>discussion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>
                <a:latin typeface="Arial"/>
                <a:ea typeface="Arial"/>
                <a:cs typeface="Arial"/>
                <a:sym typeface="Arial"/>
              </a:rPr>
              <a:t>work allocation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zh-TW">
                <a:latin typeface="Arial"/>
                <a:ea typeface="Arial"/>
                <a:cs typeface="Arial"/>
                <a:sym typeface="Arial"/>
              </a:rPr>
              <a:t>reference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zh-TW">
                <a:latin typeface="Arial"/>
                <a:ea typeface="Arial"/>
                <a:cs typeface="Arial"/>
                <a:sym typeface="Arial"/>
              </a:rPr>
              <a:t>motivation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zh-TW">
                <a:latin typeface="Arial"/>
                <a:ea typeface="Arial"/>
                <a:cs typeface="Arial"/>
                <a:sym typeface="Arial"/>
              </a:rPr>
              <a:t>reate interactive system using pose detection and diffusion model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zh-TW">
                <a:latin typeface="Arial"/>
                <a:ea typeface="Arial"/>
                <a:cs typeface="Arial"/>
                <a:sym typeface="Arial"/>
              </a:rPr>
              <a:t>Encourage people to interact with friends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zh-TW">
                <a:latin typeface="Arial"/>
                <a:ea typeface="Arial"/>
                <a:cs typeface="Arial"/>
                <a:sym typeface="Arial"/>
              </a:rPr>
              <a:t>architecture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5138" y="1415475"/>
            <a:ext cx="6813726" cy="321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zh-TW">
                <a:latin typeface="Arial"/>
                <a:ea typeface="Arial"/>
                <a:cs typeface="Arial"/>
                <a:sym typeface="Arial"/>
              </a:rPr>
              <a:t>models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432450" y="1215925"/>
            <a:ext cx="8241900" cy="3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AutoNum type="arabicPeriod"/>
            </a:pPr>
            <a:r>
              <a:rPr lang="zh-TW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diffusion model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-&gt; tiny-diffusion from github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AutoNum type="arabicPeriod"/>
            </a:pPr>
            <a:r>
              <a:rPr lang="zh-TW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pose estimation model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-&gt; </a:t>
            </a:r>
            <a:r>
              <a:rPr lang="zh-TW" sz="1800">
                <a:solidFill>
                  <a:schemeClr val="dk1"/>
                </a:solidFill>
              </a:rPr>
              <a:t>pretained trt_pose from NVIDIA 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latin typeface="Arial"/>
                <a:ea typeface="Arial"/>
                <a:cs typeface="Arial"/>
                <a:sym typeface="Arial"/>
              </a:rPr>
              <a:t>tiny-diffusion</a:t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225225"/>
            <a:ext cx="8353500" cy="17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●"/>
            </a:pPr>
            <a:r>
              <a:rPr lang="zh-TW" sz="1900">
                <a:latin typeface="Arial"/>
                <a:ea typeface="Arial"/>
                <a:cs typeface="Arial"/>
                <a:sym typeface="Arial"/>
              </a:rPr>
              <a:t>A minimal PyTorch implementation of probabilistic diffusion models for 2D datasets.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●"/>
            </a:pPr>
            <a:r>
              <a:rPr lang="zh-TW" sz="1900">
                <a:latin typeface="Arial"/>
                <a:ea typeface="Arial"/>
                <a:cs typeface="Arial"/>
                <a:sym typeface="Arial"/>
              </a:rPr>
              <a:t>Based on DDPM</a:t>
            </a:r>
            <a:endParaRPr sz="19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latin typeface="Arial"/>
                <a:ea typeface="Arial"/>
                <a:cs typeface="Arial"/>
                <a:sym typeface="Arial"/>
              </a:rPr>
              <a:t>diffusion model</a:t>
            </a:r>
            <a:endParaRPr/>
          </a:p>
        </p:txBody>
      </p:sp>
      <p:pic>
        <p:nvPicPr>
          <p:cNvPr id="99" name="Google Shape;9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1088" y="1307900"/>
            <a:ext cx="6421825" cy="332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latin typeface="Arial"/>
                <a:ea typeface="Arial"/>
                <a:cs typeface="Arial"/>
                <a:sym typeface="Arial"/>
              </a:rPr>
              <a:t>DDPM</a:t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1800"/>
              <a:buFont typeface="Arial"/>
              <a:buChar char="-"/>
            </a:pPr>
            <a:r>
              <a:rPr lang="zh-TW">
                <a:solidFill>
                  <a:srgbClr val="242424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Denoising Diffusion Probabilistic Models</a:t>
            </a:r>
            <a:endParaRPr>
              <a:solidFill>
                <a:srgbClr val="242424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42424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06" name="Google Shape;10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2050" y="1736352"/>
            <a:ext cx="5753650" cy="167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2050" y="3323271"/>
            <a:ext cx="5753650" cy="14196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latin typeface="Arial"/>
                <a:ea typeface="Arial"/>
                <a:cs typeface="Arial"/>
                <a:sym typeface="Arial"/>
              </a:rPr>
              <a:t>tiny-diffusion</a:t>
            </a:r>
            <a:endParaRPr/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311700" y="1225225"/>
            <a:ext cx="8520600" cy="5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Arial"/>
                <a:ea typeface="Arial"/>
                <a:cs typeface="Arial"/>
                <a:sym typeface="Arial"/>
              </a:rPr>
              <a:t>Forward</a:t>
            </a:r>
            <a:r>
              <a:rPr lang="zh-TW">
                <a:latin typeface="Arial"/>
                <a:ea typeface="Arial"/>
                <a:cs typeface="Arial"/>
                <a:sym typeface="Arial"/>
              </a:rPr>
              <a:t> process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913" y="1737625"/>
            <a:ext cx="7562187" cy="302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latin typeface="Arial"/>
                <a:ea typeface="Arial"/>
                <a:cs typeface="Arial"/>
                <a:sym typeface="Arial"/>
              </a:rPr>
              <a:t>tiny-diffusion</a:t>
            </a:r>
            <a:endParaRPr/>
          </a:p>
        </p:txBody>
      </p:sp>
      <p:sp>
        <p:nvSpPr>
          <p:cNvPr id="120" name="Google Shape;120;p22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Arial"/>
                <a:ea typeface="Arial"/>
                <a:cs typeface="Arial"/>
                <a:sym typeface="Arial"/>
              </a:rPr>
              <a:t>Reverse process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987" y="1743650"/>
            <a:ext cx="7686025" cy="307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311700" y="2397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zh-TW" sz="3000">
                <a:latin typeface="Arial"/>
                <a:ea typeface="Arial"/>
                <a:cs typeface="Arial"/>
                <a:sym typeface="Arial"/>
              </a:rPr>
              <a:t>game setting - five elements</a:t>
            </a:r>
            <a:endParaRPr b="1" sz="30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7" name="Google Shape;127;p23"/>
          <p:cNvGrpSpPr/>
          <p:nvPr/>
        </p:nvGrpSpPr>
        <p:grpSpPr>
          <a:xfrm>
            <a:off x="4042388" y="968548"/>
            <a:ext cx="1059225" cy="1330677"/>
            <a:chOff x="544625" y="3405223"/>
            <a:chExt cx="1059225" cy="1330677"/>
          </a:xfrm>
        </p:grpSpPr>
        <p:pic>
          <p:nvPicPr>
            <p:cNvPr id="128" name="Google Shape;128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44625" y="3405223"/>
              <a:ext cx="1059225" cy="105920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" name="Google Shape;129;p23"/>
            <p:cNvSpPr txBox="1"/>
            <p:nvPr/>
          </p:nvSpPr>
          <p:spPr>
            <a:xfrm>
              <a:off x="591450" y="4347400"/>
              <a:ext cx="903300" cy="38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5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fire</a:t>
              </a:r>
              <a:endParaRPr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30" name="Google Shape;130;p23"/>
          <p:cNvGrpSpPr/>
          <p:nvPr/>
        </p:nvGrpSpPr>
        <p:grpSpPr>
          <a:xfrm>
            <a:off x="3011979" y="3700000"/>
            <a:ext cx="1141800" cy="1330038"/>
            <a:chOff x="2171404" y="3405212"/>
            <a:chExt cx="1141800" cy="1330038"/>
          </a:xfrm>
        </p:grpSpPr>
        <p:pic>
          <p:nvPicPr>
            <p:cNvPr id="131" name="Google Shape;131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225112" y="3405212"/>
              <a:ext cx="1059225" cy="10592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" name="Google Shape;132;p23"/>
            <p:cNvSpPr txBox="1"/>
            <p:nvPr/>
          </p:nvSpPr>
          <p:spPr>
            <a:xfrm>
              <a:off x="2171404" y="4346750"/>
              <a:ext cx="1141800" cy="38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5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lightening</a:t>
              </a:r>
              <a:endParaRPr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33" name="Google Shape;133;p23"/>
          <p:cNvGrpSpPr/>
          <p:nvPr/>
        </p:nvGrpSpPr>
        <p:grpSpPr>
          <a:xfrm>
            <a:off x="4952529" y="3700000"/>
            <a:ext cx="1141800" cy="1330037"/>
            <a:chOff x="4000204" y="3405213"/>
            <a:chExt cx="1141800" cy="1330037"/>
          </a:xfrm>
        </p:grpSpPr>
        <p:pic>
          <p:nvPicPr>
            <p:cNvPr id="134" name="Google Shape;134;p2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014675" y="3405213"/>
              <a:ext cx="1059225" cy="10592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" name="Google Shape;135;p23"/>
            <p:cNvSpPr txBox="1"/>
            <p:nvPr/>
          </p:nvSpPr>
          <p:spPr>
            <a:xfrm>
              <a:off x="4000204" y="4346750"/>
              <a:ext cx="1141800" cy="38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5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rock</a:t>
              </a:r>
              <a:endParaRPr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36" name="Google Shape;136;p23"/>
          <p:cNvGrpSpPr/>
          <p:nvPr/>
        </p:nvGrpSpPr>
        <p:grpSpPr>
          <a:xfrm>
            <a:off x="5693554" y="1982925"/>
            <a:ext cx="1141800" cy="1330038"/>
            <a:chOff x="5752804" y="3405212"/>
            <a:chExt cx="1141800" cy="1330038"/>
          </a:xfrm>
        </p:grpSpPr>
        <p:pic>
          <p:nvPicPr>
            <p:cNvPr id="137" name="Google Shape;137;p2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765162" y="3405212"/>
              <a:ext cx="1059225" cy="10592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8" name="Google Shape;138;p23"/>
            <p:cNvSpPr txBox="1"/>
            <p:nvPr/>
          </p:nvSpPr>
          <p:spPr>
            <a:xfrm>
              <a:off x="5752804" y="4346750"/>
              <a:ext cx="1141800" cy="38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5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water</a:t>
              </a:r>
              <a:endParaRPr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39" name="Google Shape;139;p23"/>
          <p:cNvGrpSpPr/>
          <p:nvPr/>
        </p:nvGrpSpPr>
        <p:grpSpPr>
          <a:xfrm>
            <a:off x="2222254" y="2038487"/>
            <a:ext cx="1151996" cy="1371313"/>
            <a:chOff x="7505404" y="3363937"/>
            <a:chExt cx="1151996" cy="1371313"/>
          </a:xfrm>
        </p:grpSpPr>
        <p:pic>
          <p:nvPicPr>
            <p:cNvPr id="140" name="Google Shape;140;p23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7515625" y="3363937"/>
              <a:ext cx="1141775" cy="1141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p23"/>
            <p:cNvSpPr txBox="1"/>
            <p:nvPr/>
          </p:nvSpPr>
          <p:spPr>
            <a:xfrm>
              <a:off x="7505404" y="4346750"/>
              <a:ext cx="1141800" cy="38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5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wind</a:t>
              </a:r>
              <a:endParaRPr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cxnSp>
        <p:nvCxnSpPr>
          <p:cNvPr id="142" name="Google Shape;142;p23"/>
          <p:cNvCxnSpPr/>
          <p:nvPr/>
        </p:nvCxnSpPr>
        <p:spPr>
          <a:xfrm flipH="1">
            <a:off x="3353075" y="1669125"/>
            <a:ext cx="612000" cy="466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" name="Google Shape;143;p23"/>
          <p:cNvCxnSpPr/>
          <p:nvPr/>
        </p:nvCxnSpPr>
        <p:spPr>
          <a:xfrm>
            <a:off x="3116325" y="3022525"/>
            <a:ext cx="258000" cy="677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4" name="Google Shape;144;p23"/>
          <p:cNvCxnSpPr>
            <a:stCxn id="131" idx="3"/>
            <a:endCxn id="134" idx="1"/>
          </p:cNvCxnSpPr>
          <p:nvPr/>
        </p:nvCxnSpPr>
        <p:spPr>
          <a:xfrm>
            <a:off x="4124912" y="4229612"/>
            <a:ext cx="8421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" name="Google Shape;145;p23"/>
          <p:cNvCxnSpPr/>
          <p:nvPr/>
        </p:nvCxnSpPr>
        <p:spPr>
          <a:xfrm flipH="1" rot="10800000">
            <a:off x="5850429" y="3312963"/>
            <a:ext cx="372900" cy="569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" name="Google Shape;146;p23"/>
          <p:cNvCxnSpPr/>
          <p:nvPr/>
        </p:nvCxnSpPr>
        <p:spPr>
          <a:xfrm rot="10800000">
            <a:off x="5196425" y="1594525"/>
            <a:ext cx="622200" cy="480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zh-TW" sz="3000">
                <a:latin typeface="Arial"/>
                <a:ea typeface="Arial"/>
                <a:cs typeface="Arial"/>
                <a:sym typeface="Arial"/>
              </a:rPr>
              <a:t>game setting - five elements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" name="Google Shape;15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625" y="3405223"/>
            <a:ext cx="1059225" cy="10592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25112" y="3405212"/>
            <a:ext cx="1059225" cy="105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14675" y="3405213"/>
            <a:ext cx="1059225" cy="105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65162" y="3405212"/>
            <a:ext cx="1059225" cy="105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15625" y="3363937"/>
            <a:ext cx="1141775" cy="114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10800000">
            <a:off x="267175" y="1693125"/>
            <a:ext cx="1614125" cy="161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10800000">
            <a:off x="1960725" y="1699900"/>
            <a:ext cx="1628550" cy="162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rot="10800000">
            <a:off x="3669575" y="1700400"/>
            <a:ext cx="1636000" cy="163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4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rot="10800000">
            <a:off x="5443000" y="1695175"/>
            <a:ext cx="1628700" cy="16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4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 rot="10800000">
            <a:off x="7209125" y="1687325"/>
            <a:ext cx="1634500" cy="163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4"/>
          <p:cNvSpPr txBox="1"/>
          <p:nvPr/>
        </p:nvSpPr>
        <p:spPr>
          <a:xfrm>
            <a:off x="622575" y="1374950"/>
            <a:ext cx="9033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fire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3" name="Google Shape;163;p24"/>
          <p:cNvSpPr txBox="1"/>
          <p:nvPr/>
        </p:nvSpPr>
        <p:spPr>
          <a:xfrm>
            <a:off x="2171404" y="1374950"/>
            <a:ext cx="11418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lightening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4" name="Google Shape;164;p24"/>
          <p:cNvSpPr txBox="1"/>
          <p:nvPr/>
        </p:nvSpPr>
        <p:spPr>
          <a:xfrm>
            <a:off x="3924004" y="1374950"/>
            <a:ext cx="11418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rock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5" name="Google Shape;165;p24"/>
          <p:cNvSpPr txBox="1"/>
          <p:nvPr/>
        </p:nvSpPr>
        <p:spPr>
          <a:xfrm>
            <a:off x="5676604" y="1374950"/>
            <a:ext cx="11418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water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6" name="Google Shape;166;p24"/>
          <p:cNvSpPr txBox="1"/>
          <p:nvPr/>
        </p:nvSpPr>
        <p:spPr>
          <a:xfrm>
            <a:off x="7429204" y="1374950"/>
            <a:ext cx="11418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wind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3000">
                <a:latin typeface="Arial"/>
                <a:ea typeface="Arial"/>
                <a:cs typeface="Arial"/>
                <a:sym typeface="Arial"/>
              </a:rPr>
              <a:t>game setting - elemental attack</a:t>
            </a:r>
            <a:endParaRPr/>
          </a:p>
        </p:txBody>
      </p:sp>
      <p:grpSp>
        <p:nvGrpSpPr>
          <p:cNvPr id="172" name="Google Shape;172;p25"/>
          <p:cNvGrpSpPr/>
          <p:nvPr/>
        </p:nvGrpSpPr>
        <p:grpSpPr>
          <a:xfrm>
            <a:off x="1897868" y="1908110"/>
            <a:ext cx="1549780" cy="1844827"/>
            <a:chOff x="7505404" y="3363937"/>
            <a:chExt cx="1151996" cy="1371313"/>
          </a:xfrm>
        </p:grpSpPr>
        <p:pic>
          <p:nvPicPr>
            <p:cNvPr id="173" name="Google Shape;173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15625" y="3363937"/>
              <a:ext cx="1141775" cy="1141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4" name="Google Shape;174;p25"/>
            <p:cNvSpPr txBox="1"/>
            <p:nvPr/>
          </p:nvSpPr>
          <p:spPr>
            <a:xfrm>
              <a:off x="7505404" y="4346750"/>
              <a:ext cx="1141800" cy="38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5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wind</a:t>
              </a:r>
              <a:endParaRPr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cxnSp>
        <p:nvCxnSpPr>
          <p:cNvPr id="175" name="Google Shape;175;p25"/>
          <p:cNvCxnSpPr/>
          <p:nvPr/>
        </p:nvCxnSpPr>
        <p:spPr>
          <a:xfrm>
            <a:off x="3760650" y="2173425"/>
            <a:ext cx="1622700" cy="0"/>
          </a:xfrm>
          <a:prstGeom prst="straightConnector1">
            <a:avLst/>
          </a:prstGeom>
          <a:noFill/>
          <a:ln cap="flat" cmpd="sng" w="76200">
            <a:solidFill>
              <a:srgbClr val="4DF6B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6" name="Google Shape;176;p25"/>
          <p:cNvCxnSpPr/>
          <p:nvPr/>
        </p:nvCxnSpPr>
        <p:spPr>
          <a:xfrm rot="10800000">
            <a:off x="3757350" y="3119575"/>
            <a:ext cx="1549800" cy="0"/>
          </a:xfrm>
          <a:prstGeom prst="straightConnector1">
            <a:avLst/>
          </a:prstGeom>
          <a:noFill/>
          <a:ln cap="flat" cmpd="sng" w="76200">
            <a:solidFill>
              <a:srgbClr val="E3AF3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7" name="Google Shape;177;p25"/>
          <p:cNvSpPr txBox="1"/>
          <p:nvPr/>
        </p:nvSpPr>
        <p:spPr>
          <a:xfrm>
            <a:off x="3980275" y="1435775"/>
            <a:ext cx="1200300" cy="4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rgbClr val="4DF6B5"/>
                </a:solidFill>
                <a:latin typeface="Open Sans"/>
                <a:ea typeface="Open Sans"/>
                <a:cs typeface="Open Sans"/>
                <a:sym typeface="Open Sans"/>
              </a:rPr>
              <a:t>8000</a:t>
            </a:r>
            <a:endParaRPr b="1" sz="2400">
              <a:solidFill>
                <a:srgbClr val="4DF6B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8" name="Google Shape;178;p25"/>
          <p:cNvSpPr txBox="1"/>
          <p:nvPr/>
        </p:nvSpPr>
        <p:spPr>
          <a:xfrm>
            <a:off x="4056463" y="3376025"/>
            <a:ext cx="1200300" cy="4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rgbClr val="E3AF31"/>
                </a:solidFill>
                <a:latin typeface="Open Sans"/>
                <a:ea typeface="Open Sans"/>
                <a:cs typeface="Open Sans"/>
                <a:sym typeface="Open Sans"/>
              </a:rPr>
              <a:t>7000</a:t>
            </a:r>
            <a:endParaRPr b="1" sz="2400">
              <a:solidFill>
                <a:srgbClr val="E3AF3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9" name="Google Shape;179;p25"/>
          <p:cNvSpPr txBox="1"/>
          <p:nvPr/>
        </p:nvSpPr>
        <p:spPr>
          <a:xfrm>
            <a:off x="2640175" y="4157775"/>
            <a:ext cx="38805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8000-7000=</a:t>
            </a:r>
            <a:r>
              <a:rPr lang="zh-TW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1000</a:t>
            </a:r>
            <a:endParaRPr sz="2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0" name="Google Shape;180;p25"/>
          <p:cNvSpPr txBox="1"/>
          <p:nvPr/>
        </p:nvSpPr>
        <p:spPr>
          <a:xfrm>
            <a:off x="7335550" y="2119675"/>
            <a:ext cx="1758000" cy="7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000">
                <a:solidFill>
                  <a:srgbClr val="E3AF31"/>
                </a:solidFill>
                <a:latin typeface="Open Sans"/>
                <a:ea typeface="Open Sans"/>
                <a:cs typeface="Open Sans"/>
                <a:sym typeface="Open Sans"/>
              </a:rPr>
              <a:t>recieved</a:t>
            </a:r>
            <a:endParaRPr b="1" sz="2000">
              <a:solidFill>
                <a:srgbClr val="E3AF3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000">
                <a:solidFill>
                  <a:srgbClr val="E3AF31"/>
                </a:solidFill>
                <a:latin typeface="Open Sans"/>
                <a:ea typeface="Open Sans"/>
                <a:cs typeface="Open Sans"/>
                <a:sym typeface="Open Sans"/>
              </a:rPr>
              <a:t>1000 points of damage</a:t>
            </a:r>
            <a:endParaRPr b="1" sz="2000">
              <a:solidFill>
                <a:srgbClr val="E3AF3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1" name="Google Shape;181;p25"/>
          <p:cNvSpPr txBox="1"/>
          <p:nvPr/>
        </p:nvSpPr>
        <p:spPr>
          <a:xfrm>
            <a:off x="6444075" y="-358650"/>
            <a:ext cx="839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82" name="Google Shape;182;p25"/>
          <p:cNvGrpSpPr/>
          <p:nvPr/>
        </p:nvGrpSpPr>
        <p:grpSpPr>
          <a:xfrm>
            <a:off x="5865487" y="1932767"/>
            <a:ext cx="1470068" cy="1712423"/>
            <a:chOff x="4000204" y="3405213"/>
            <a:chExt cx="1141800" cy="1330037"/>
          </a:xfrm>
        </p:grpSpPr>
        <p:pic>
          <p:nvPicPr>
            <p:cNvPr id="183" name="Google Shape;183;p2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014675" y="3405213"/>
              <a:ext cx="1059225" cy="10592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4" name="Google Shape;184;p25"/>
            <p:cNvSpPr txBox="1"/>
            <p:nvPr/>
          </p:nvSpPr>
          <p:spPr>
            <a:xfrm>
              <a:off x="4000204" y="4346750"/>
              <a:ext cx="1141800" cy="38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5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rock</a:t>
              </a:r>
              <a:endParaRPr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3000">
                <a:latin typeface="Arial"/>
                <a:ea typeface="Arial"/>
                <a:cs typeface="Arial"/>
                <a:sym typeface="Arial"/>
              </a:rPr>
              <a:t>game setting - elemental attack</a:t>
            </a:r>
            <a:endParaRPr/>
          </a:p>
        </p:txBody>
      </p:sp>
      <p:grpSp>
        <p:nvGrpSpPr>
          <p:cNvPr id="190" name="Google Shape;190;p26"/>
          <p:cNvGrpSpPr/>
          <p:nvPr/>
        </p:nvGrpSpPr>
        <p:grpSpPr>
          <a:xfrm>
            <a:off x="5543780" y="1908103"/>
            <a:ext cx="1452303" cy="1824625"/>
            <a:chOff x="544625" y="3405223"/>
            <a:chExt cx="1059225" cy="1330677"/>
          </a:xfrm>
        </p:grpSpPr>
        <p:pic>
          <p:nvPicPr>
            <p:cNvPr id="191" name="Google Shape;191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44625" y="3405223"/>
              <a:ext cx="1059225" cy="105920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2" name="Google Shape;192;p26"/>
            <p:cNvSpPr txBox="1"/>
            <p:nvPr/>
          </p:nvSpPr>
          <p:spPr>
            <a:xfrm>
              <a:off x="591450" y="4347400"/>
              <a:ext cx="903300" cy="38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5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fire</a:t>
              </a:r>
              <a:endParaRPr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93" name="Google Shape;193;p26"/>
          <p:cNvGrpSpPr/>
          <p:nvPr/>
        </p:nvGrpSpPr>
        <p:grpSpPr>
          <a:xfrm>
            <a:off x="1897868" y="1908110"/>
            <a:ext cx="1549780" cy="1844827"/>
            <a:chOff x="7505404" y="3363937"/>
            <a:chExt cx="1151996" cy="1371313"/>
          </a:xfrm>
        </p:grpSpPr>
        <p:pic>
          <p:nvPicPr>
            <p:cNvPr id="194" name="Google Shape;194;p2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515625" y="3363937"/>
              <a:ext cx="1141775" cy="1141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5" name="Google Shape;195;p26"/>
            <p:cNvSpPr txBox="1"/>
            <p:nvPr/>
          </p:nvSpPr>
          <p:spPr>
            <a:xfrm>
              <a:off x="7505404" y="4346750"/>
              <a:ext cx="1141800" cy="38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5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wind</a:t>
              </a:r>
              <a:endParaRPr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cxnSp>
        <p:nvCxnSpPr>
          <p:cNvPr id="196" name="Google Shape;196;p26"/>
          <p:cNvCxnSpPr/>
          <p:nvPr/>
        </p:nvCxnSpPr>
        <p:spPr>
          <a:xfrm>
            <a:off x="3760650" y="2173425"/>
            <a:ext cx="1622700" cy="0"/>
          </a:xfrm>
          <a:prstGeom prst="straightConnector1">
            <a:avLst/>
          </a:prstGeom>
          <a:noFill/>
          <a:ln cap="flat" cmpd="sng" w="76200">
            <a:solidFill>
              <a:srgbClr val="4DF6B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" name="Google Shape;197;p26"/>
          <p:cNvCxnSpPr/>
          <p:nvPr/>
        </p:nvCxnSpPr>
        <p:spPr>
          <a:xfrm rot="10800000">
            <a:off x="3757350" y="3119575"/>
            <a:ext cx="1549800" cy="0"/>
          </a:xfrm>
          <a:prstGeom prst="straightConnector1">
            <a:avLst/>
          </a:prstGeom>
          <a:noFill/>
          <a:ln cap="flat" cmpd="sng" w="76200">
            <a:solidFill>
              <a:srgbClr val="EB453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8" name="Google Shape;198;p26"/>
          <p:cNvSpPr txBox="1"/>
          <p:nvPr/>
        </p:nvSpPr>
        <p:spPr>
          <a:xfrm>
            <a:off x="3980275" y="1435775"/>
            <a:ext cx="1200300" cy="4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rgbClr val="4DF6B5"/>
                </a:solidFill>
                <a:latin typeface="Open Sans"/>
                <a:ea typeface="Open Sans"/>
                <a:cs typeface="Open Sans"/>
                <a:sym typeface="Open Sans"/>
              </a:rPr>
              <a:t>8000</a:t>
            </a:r>
            <a:endParaRPr b="1" sz="2400">
              <a:solidFill>
                <a:srgbClr val="4DF6B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9" name="Google Shape;199;p26"/>
          <p:cNvSpPr txBox="1"/>
          <p:nvPr/>
        </p:nvSpPr>
        <p:spPr>
          <a:xfrm>
            <a:off x="4056475" y="3376025"/>
            <a:ext cx="120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rgbClr val="EB4534"/>
                </a:solidFill>
                <a:latin typeface="Open Sans"/>
                <a:ea typeface="Open Sans"/>
                <a:cs typeface="Open Sans"/>
                <a:sym typeface="Open Sans"/>
              </a:rPr>
              <a:t>7500</a:t>
            </a:r>
            <a:endParaRPr b="1" sz="2400">
              <a:solidFill>
                <a:srgbClr val="EB453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0" name="Google Shape;200;p26"/>
          <p:cNvSpPr txBox="1"/>
          <p:nvPr/>
        </p:nvSpPr>
        <p:spPr>
          <a:xfrm>
            <a:off x="2640175" y="4157775"/>
            <a:ext cx="38805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8000-7500*1.2 = -1000</a:t>
            </a:r>
            <a:endParaRPr sz="2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1" name="Google Shape;201;p26"/>
          <p:cNvSpPr txBox="1"/>
          <p:nvPr/>
        </p:nvSpPr>
        <p:spPr>
          <a:xfrm>
            <a:off x="304800" y="2348275"/>
            <a:ext cx="1758000" cy="7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000">
                <a:solidFill>
                  <a:srgbClr val="4DF6B5"/>
                </a:solidFill>
                <a:latin typeface="Open Sans"/>
                <a:ea typeface="Open Sans"/>
                <a:cs typeface="Open Sans"/>
                <a:sym typeface="Open Sans"/>
              </a:rPr>
              <a:t>recieved</a:t>
            </a:r>
            <a:endParaRPr b="1" sz="2000">
              <a:solidFill>
                <a:srgbClr val="4DF6B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000">
                <a:solidFill>
                  <a:srgbClr val="4DF6B5"/>
                </a:solidFill>
                <a:latin typeface="Open Sans"/>
                <a:ea typeface="Open Sans"/>
                <a:cs typeface="Open Sans"/>
                <a:sym typeface="Open Sans"/>
              </a:rPr>
              <a:t>1000 points of damage</a:t>
            </a:r>
            <a:endParaRPr b="1" sz="2000">
              <a:solidFill>
                <a:srgbClr val="4DF6B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2" name="Google Shape;202;p26"/>
          <p:cNvSpPr txBox="1"/>
          <p:nvPr/>
        </p:nvSpPr>
        <p:spPr>
          <a:xfrm>
            <a:off x="6444075" y="-358650"/>
            <a:ext cx="839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3" name="Google Shape;203;p26"/>
          <p:cNvSpPr txBox="1"/>
          <p:nvPr/>
        </p:nvSpPr>
        <p:spPr>
          <a:xfrm>
            <a:off x="2716375" y="1065350"/>
            <a:ext cx="38805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Fire beats wind</a:t>
            </a:r>
            <a:endParaRPr sz="2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zh-TW" sz="3100">
                <a:latin typeface="Arial"/>
                <a:ea typeface="Arial"/>
                <a:cs typeface="Arial"/>
                <a:sym typeface="Arial"/>
              </a:rPr>
              <a:t>game setting - launch an attack</a:t>
            </a:r>
            <a:r>
              <a:rPr b="1" lang="zh-TW">
                <a:latin typeface="Arial"/>
                <a:ea typeface="Arial"/>
                <a:cs typeface="Arial"/>
                <a:sym typeface="Arial"/>
              </a:rPr>
              <a:t> 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7"/>
          <p:cNvSpPr txBox="1"/>
          <p:nvPr>
            <p:ph idx="1" type="body"/>
          </p:nvPr>
        </p:nvSpPr>
        <p:spPr>
          <a:xfrm>
            <a:off x="311700" y="1072825"/>
            <a:ext cx="8707800" cy="37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>
                <a:latin typeface="Arial"/>
                <a:ea typeface="Arial"/>
                <a:cs typeface="Arial"/>
                <a:sym typeface="Arial"/>
              </a:rPr>
              <a:t>pose estimation model detects players’ pose and launch specific elemental attack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0" name="Google Shape;21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1050" y="1915861"/>
            <a:ext cx="571139" cy="571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09127" y="1915856"/>
            <a:ext cx="571139" cy="571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5531" y="1915856"/>
            <a:ext cx="571139" cy="571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38128" y="1915856"/>
            <a:ext cx="571139" cy="571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692274" y="1893601"/>
            <a:ext cx="615651" cy="61562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7"/>
          <p:cNvSpPr txBox="1"/>
          <p:nvPr/>
        </p:nvSpPr>
        <p:spPr>
          <a:xfrm>
            <a:off x="774975" y="1527350"/>
            <a:ext cx="9033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fire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6" name="Google Shape;216;p27"/>
          <p:cNvSpPr txBox="1"/>
          <p:nvPr/>
        </p:nvSpPr>
        <p:spPr>
          <a:xfrm>
            <a:off x="2323804" y="1527350"/>
            <a:ext cx="11418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lightening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7" name="Google Shape;217;p27"/>
          <p:cNvSpPr txBox="1"/>
          <p:nvPr/>
        </p:nvSpPr>
        <p:spPr>
          <a:xfrm>
            <a:off x="4000204" y="1527350"/>
            <a:ext cx="11418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rock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8" name="Google Shape;218;p27"/>
          <p:cNvSpPr txBox="1"/>
          <p:nvPr/>
        </p:nvSpPr>
        <p:spPr>
          <a:xfrm>
            <a:off x="5752804" y="1527350"/>
            <a:ext cx="11418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water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9" name="Google Shape;219;p27"/>
          <p:cNvSpPr txBox="1"/>
          <p:nvPr/>
        </p:nvSpPr>
        <p:spPr>
          <a:xfrm>
            <a:off x="7429204" y="1527350"/>
            <a:ext cx="11418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wind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20" name="Google Shape;220;p27"/>
          <p:cNvPicPr preferRelativeResize="0"/>
          <p:nvPr/>
        </p:nvPicPr>
        <p:blipFill rotWithShape="1">
          <a:blip r:embed="rId8">
            <a:alphaModFix/>
          </a:blip>
          <a:srcRect b="40395" l="34151" r="36257" t="27928"/>
          <a:stretch/>
        </p:blipFill>
        <p:spPr>
          <a:xfrm>
            <a:off x="3938394" y="2686050"/>
            <a:ext cx="1302005" cy="1857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7"/>
          <p:cNvPicPr preferRelativeResize="0"/>
          <p:nvPr/>
        </p:nvPicPr>
        <p:blipFill rotWithShape="1">
          <a:blip r:embed="rId9">
            <a:alphaModFix/>
          </a:blip>
          <a:srcRect b="32389" l="27220" r="37122" t="29697"/>
          <a:stretch/>
        </p:blipFill>
        <p:spPr>
          <a:xfrm>
            <a:off x="5672700" y="2692237"/>
            <a:ext cx="1302000" cy="184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7"/>
          <p:cNvPicPr preferRelativeResize="0"/>
          <p:nvPr/>
        </p:nvPicPr>
        <p:blipFill rotWithShape="1">
          <a:blip r:embed="rId10">
            <a:alphaModFix/>
          </a:blip>
          <a:srcRect b="38050" l="31488" r="28474" t="19378"/>
          <a:stretch/>
        </p:blipFill>
        <p:spPr>
          <a:xfrm>
            <a:off x="2233325" y="2701079"/>
            <a:ext cx="1302000" cy="18454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7"/>
          <p:cNvPicPr preferRelativeResize="0"/>
          <p:nvPr/>
        </p:nvPicPr>
        <p:blipFill rotWithShape="1">
          <a:blip r:embed="rId11">
            <a:alphaModFix/>
          </a:blip>
          <a:srcRect b="34475" l="29483" r="42088" t="33957"/>
          <a:stretch/>
        </p:blipFill>
        <p:spPr>
          <a:xfrm>
            <a:off x="578854" y="2701450"/>
            <a:ext cx="1246771" cy="184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7"/>
          <p:cNvPicPr preferRelativeResize="0"/>
          <p:nvPr/>
        </p:nvPicPr>
        <p:blipFill rotWithShape="1">
          <a:blip r:embed="rId12">
            <a:alphaModFix/>
          </a:blip>
          <a:srcRect b="5550" l="18900" r="10547" t="12710"/>
          <a:stretch/>
        </p:blipFill>
        <p:spPr>
          <a:xfrm>
            <a:off x="7235113" y="2682563"/>
            <a:ext cx="1529975" cy="186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b="1" lang="zh-TW" sz="3100">
                <a:latin typeface="Arial"/>
                <a:ea typeface="Arial"/>
                <a:cs typeface="Arial"/>
                <a:sym typeface="Arial"/>
              </a:rPr>
              <a:t>game setting - launch an attack</a:t>
            </a:r>
            <a:r>
              <a:rPr b="1" lang="zh-TW">
                <a:latin typeface="Arial"/>
                <a:ea typeface="Arial"/>
                <a:cs typeface="Arial"/>
                <a:sym typeface="Arial"/>
              </a:rPr>
              <a:t> 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0" name="Google Shape;230;p28"/>
          <p:cNvPicPr preferRelativeResize="0"/>
          <p:nvPr/>
        </p:nvPicPr>
        <p:blipFill rotWithShape="1">
          <a:blip r:embed="rId3">
            <a:alphaModFix/>
          </a:blip>
          <a:srcRect b="38050" l="31488" r="28474" t="19378"/>
          <a:stretch/>
        </p:blipFill>
        <p:spPr>
          <a:xfrm>
            <a:off x="957375" y="1463981"/>
            <a:ext cx="2055700" cy="29137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8"/>
          <p:cNvPicPr preferRelativeResize="0"/>
          <p:nvPr/>
        </p:nvPicPr>
        <p:blipFill rotWithShape="1">
          <a:blip r:embed="rId4">
            <a:alphaModFix/>
          </a:blip>
          <a:srcRect b="6720" l="9383" r="7649" t="9372"/>
          <a:stretch/>
        </p:blipFill>
        <p:spPr>
          <a:xfrm flipH="1" rot="10800000">
            <a:off x="5063413" y="1385175"/>
            <a:ext cx="3120675" cy="315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77560" y="2423632"/>
            <a:ext cx="994451" cy="9944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zh-TW" sz="3100">
                <a:latin typeface="Arial"/>
                <a:ea typeface="Arial"/>
                <a:cs typeface="Arial"/>
                <a:sym typeface="Arial"/>
              </a:rPr>
              <a:t>game setting - ATTACK</a:t>
            </a:r>
            <a:r>
              <a:rPr b="1" lang="zh-TW" sz="3100">
                <a:latin typeface="Arial"/>
                <a:ea typeface="Arial"/>
                <a:cs typeface="Arial"/>
                <a:sym typeface="Arial"/>
              </a:rPr>
              <a:t>！！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8" name="Google Shape;238;p29"/>
          <p:cNvPicPr preferRelativeResize="0"/>
          <p:nvPr/>
        </p:nvPicPr>
        <p:blipFill rotWithShape="1">
          <a:blip r:embed="rId3">
            <a:alphaModFix/>
          </a:blip>
          <a:srcRect b="33282" l="29703" r="23798" t="26579"/>
          <a:stretch/>
        </p:blipFill>
        <p:spPr>
          <a:xfrm>
            <a:off x="4927125" y="1437575"/>
            <a:ext cx="2786950" cy="32068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1798475" y="1302100"/>
            <a:ext cx="4150287" cy="230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0"/>
          <p:cNvSpPr txBox="1"/>
          <p:nvPr>
            <p:ph type="title"/>
          </p:nvPr>
        </p:nvSpPr>
        <p:spPr>
          <a:xfrm>
            <a:off x="380695" y="2052400"/>
            <a:ext cx="8382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zh-TW">
                <a:latin typeface="Arial"/>
                <a:ea typeface="Arial"/>
                <a:cs typeface="Arial"/>
                <a:sym typeface="Arial"/>
              </a:rPr>
              <a:t>demo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zh-TW">
                <a:latin typeface="Arial"/>
                <a:ea typeface="Arial"/>
                <a:cs typeface="Arial"/>
                <a:sym typeface="Arial"/>
              </a:rPr>
              <a:t>discussion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3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zh-TW" sz="2000">
                <a:latin typeface="Arial"/>
                <a:ea typeface="Arial"/>
                <a:cs typeface="Arial"/>
                <a:sym typeface="Arial"/>
              </a:rPr>
              <a:t>Last project：The model confuses body features from different people when there is more than one person in the frame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latin typeface="Arial"/>
                <a:ea typeface="Arial"/>
                <a:cs typeface="Arial"/>
                <a:sym typeface="Arial"/>
              </a:rPr>
              <a:t>-&gt; Improvement：split the frame into two images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984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zh-TW" sz="2000">
                <a:latin typeface="Arial"/>
                <a:ea typeface="Arial"/>
                <a:cs typeface="Arial"/>
                <a:sym typeface="Arial"/>
              </a:rPr>
              <a:t>Can’t flip the image of player 2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zh-TW">
                <a:latin typeface="Arial"/>
                <a:ea typeface="Arial"/>
                <a:cs typeface="Arial"/>
                <a:sym typeface="Arial"/>
              </a:rPr>
              <a:t>work allocation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32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>
                <a:latin typeface="Arial"/>
                <a:ea typeface="Arial"/>
                <a:cs typeface="Arial"/>
                <a:sym typeface="Arial"/>
              </a:rPr>
              <a:t>林柏宏：docker setting</a:t>
            </a:r>
            <a:r>
              <a:rPr lang="zh-TW"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zh-TW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zh-TW">
                <a:latin typeface="Arial"/>
                <a:ea typeface="Arial"/>
                <a:cs typeface="Arial"/>
                <a:sym typeface="Arial"/>
              </a:rPr>
              <a:t>game design, tiny diffusion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>
                <a:latin typeface="Arial"/>
                <a:ea typeface="Arial"/>
                <a:cs typeface="Arial"/>
                <a:sym typeface="Arial"/>
              </a:rPr>
              <a:t>施又琪：</a:t>
            </a:r>
            <a:r>
              <a:rPr lang="zh-TW">
                <a:latin typeface="Arial"/>
                <a:ea typeface="Arial"/>
                <a:cs typeface="Arial"/>
                <a:sym typeface="Arial"/>
              </a:rPr>
              <a:t>docker setting</a:t>
            </a:r>
            <a:r>
              <a:rPr lang="zh-TW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zh-TW">
                <a:latin typeface="Arial"/>
                <a:ea typeface="Arial"/>
                <a:cs typeface="Arial"/>
                <a:sym typeface="Arial"/>
              </a:rPr>
              <a:t>game design, tiny diffusion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>
                <a:latin typeface="Arial"/>
                <a:ea typeface="Arial"/>
                <a:cs typeface="Arial"/>
                <a:sym typeface="Arial"/>
              </a:rPr>
              <a:t>廖敏妤：</a:t>
            </a:r>
            <a:r>
              <a:rPr lang="zh-TW">
                <a:latin typeface="Arial"/>
                <a:ea typeface="Arial"/>
                <a:cs typeface="Arial"/>
                <a:sym typeface="Arial"/>
              </a:rPr>
              <a:t>docker setting</a:t>
            </a:r>
            <a:r>
              <a:rPr lang="zh-TW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zh-TW">
                <a:latin typeface="Arial"/>
                <a:ea typeface="Arial"/>
                <a:cs typeface="Arial"/>
                <a:sym typeface="Arial"/>
              </a:rPr>
              <a:t>game design, tiny diffusion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latin typeface="Arial"/>
                <a:ea typeface="Arial"/>
                <a:cs typeface="Arial"/>
                <a:sym typeface="Arial"/>
              </a:rPr>
              <a:t>reference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3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u="sng">
                <a:solidFill>
                  <a:schemeClr val="hlink"/>
                </a:solidFill>
                <a:hlinkClick r:id="rId3"/>
              </a:rPr>
              <a:t>https://github.com/NVIDIA-AI-IOT/trt_pose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u="sng">
                <a:solidFill>
                  <a:schemeClr val="hlink"/>
                </a:solidFill>
                <a:hlinkClick r:id="rId4"/>
              </a:rPr>
              <a:t>https://github.com/NVIDIA-AI-IOT/torch2trt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u="sng">
                <a:solidFill>
                  <a:schemeClr val="hlink"/>
                </a:solidFill>
                <a:hlinkClick r:id="rId5"/>
              </a:rPr>
              <a:t>https://github.com/tanelp/tiny-diffusion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u="sng">
                <a:solidFill>
                  <a:schemeClr val="hlink"/>
                </a:solidFill>
                <a:hlinkClick r:id="rId6"/>
              </a:rPr>
              <a:t>https://medium.com/ai-blog-tw/%E9%82%8A%E5%AF%A6%E4%BD%9C%E9%82%8A%E5%AD%B8%E7%BF%92diffusion-model-%E5%BE%9Eddpm%E7%9A%84%E7%B0%A1%E5%8C%96%E6%A6%82%E5%BF%B5%E7%90%86%E8%A7%A3-4c565a1c09c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4"/>
          <p:cNvSpPr txBox="1"/>
          <p:nvPr>
            <p:ph type="title"/>
          </p:nvPr>
        </p:nvSpPr>
        <p:spPr>
          <a:xfrm>
            <a:off x="3105300" y="2156100"/>
            <a:ext cx="2933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67"/>
              <a:buNone/>
            </a:pPr>
            <a:r>
              <a:rPr b="1" lang="zh-TW">
                <a:latin typeface="Arial"/>
                <a:ea typeface="Arial"/>
                <a:cs typeface="Arial"/>
                <a:sym typeface="Arial"/>
              </a:rPr>
              <a:t>thank you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